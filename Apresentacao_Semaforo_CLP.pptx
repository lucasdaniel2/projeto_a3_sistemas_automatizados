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DA8936-D207-44F1-83B4-E6CA5F132869}">
  <a:tblStyle styleId="{D2DA8936-D207-44F1-83B4-E6CA5F13286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Boa tarde. Nós somos o grupo do projeto de Sistemas Automatizados e vamos apresentar o desenvolvimento de um semáforo inteligente com botoeira de travessia de pedestres, controlado por um CLP e programado em linguagem Ladder, simulado no MacroPLC. A ideia central: além do ciclo clássico verde-amarelo-vermelho, o pedestre pode solicitar a travessia e o sistema garante uma janela segura de passagem.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 cruzamentos compartilhados há duas demandas concorrentes: a fluidez do tráfego e a segurança da travessia. O controle por ciclos fixos tende a favorecer os veículos e deixar o pedestre esperando, o que estimula travessias em momentos perigosos. E, por ser um sistema crítico, qualquer falha pode gerar acidentes. Por isso adotamos um CLP, que é determinístico e confiável. Nossa proposta é um semáforo que mantém o ciclo padrão, mas registra a solicitação do pedestre e garante um intervalo seguro para a travessia.</a:t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Nosso objetivo geral foi projetar, implementar e simular o controle semafórico em CLP. Entre os específicos: mapear entradas e saídas, desenvolver a lógica em Ladder usando contatos, bobinas, temporizadores e memória, validar na simulação e documentar em ABNT. Sobre o escopo: trabalhamos com um cruzamento simplificado de um semáforo de três fases mais a botoeira de pedestre. Ficaram de fora, propositalmente, o hardware físico, a rede entre cruzamentos, sensores de fluxo e a supervisão SCADA — esses pontos voltam no final como trabalhos futuros.</a:t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arquitetura segue o modelo clássico de automação: entrada, processamento e saída. As botoeiras são as entradas; o CLP executa o programa Ladder no ciclo de varredura — leitura das entradas, execução da lógica e atualização das saídas, tudo na ordem de milissegundos, o que garante resposta determinística; e as saídas são as lâmpadas. Internamente usamos cinco temporizadores, uma memória interna para o pedido do pedestre e quatro saídas digitais de sinalização.</a:t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Aqui está o mapeamento real de entradas e saídas, extraído do próprio arquivo do MacroPLC. Nas entradas temos as botoeiras: I01 partida, I02 parada e, a mais importante para a interação, I03, a botoeira do pedestre. Nas saídas, Q01 a Q03 são as três cores do semáforo veicular e Q04 é a sinalização do pedestre. M01 é a memória interna que guarda o pedido de travessia, e T01 a T05 são os temporizadores que organizam as fases, o reinício do ciclo e a janela segura do pedestre.</a:t>
            </a:r>
            <a:endParaRPr/>
          </a:p>
        </p:txBody>
      </p:sp>
      <p:sp>
        <p:nvSpPr>
          <p:cNvPr id="95" name="Google Shape;9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estratégia tem dois pilares. Primeiro, temporizadores em cascata: cada temporizador, ao terminar, dispara o próximo, e cada fase fica energizada apenas dentro de uma janela de tempo exclusiva. Essa janela é formada por um contato normalmente aberto, que abre a fase, em série com um normalmente fechado, que a encerra — e isso garante o intertravamento por projeto: as condições são mutuamente exclusivas no tempo, então nunca teremos verde e vermelho ao mesmo tempo. O segundo pilar é a memória selada M01: quando o pedestre aperta I03, M01 liga e o selo a mantém ligada mesmo que ele solte o botão. O pedido só é atendido na fase vermelha, com a janela segura do T05, e depois M01 é resetada. Isso desacopla o instante do pedido do instante do atendimento.</a:t>
            </a:r>
            <a:endParaRPr/>
          </a:p>
        </p:txBody>
      </p:sp>
      <p:sp>
        <p:nvSpPr>
          <p:cNvPr id="107" name="Google Shape;10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é o diagrama Ladder do nosso projeto, reproduzido do arquivo do MacroPLC. As redes estão organizadas por função, o que facilita a manutenção. As três primeiras formam a cadeia de temporização. As redes 4, 5 e 6 acionam, respectivamente, o verde, o amarelo e o vermelho dos veículos, cada um dentro da sua janela. A rede 7 é a memória selada do pedestre. A rede 8 usa essa memória para habilitar o temporizador que delimita o ciclo e a janela. E a rede 9 aciona a sinalização do pedestre. Observação importante para a banca: os sentidos de contato aberto e fechado seguem o arquivo .cli; a tabela de redes no relatório descreve a função de cada uma de forma inequívoca.</a:t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fluxograma resume a sequência operacional. O ciclo veicular percorre verde, amarelo e vermelho de forma temporizada e reinicia automaticamente, sem intervenção manual. A qualquer momento, se o pedestre aperta I03, selamos M01. Quando o sistema chega à fase vermelha, aciona-se a sinalização do pedestre Q04 dentro da janela segura do T05; ao fim dessa janela, M01 é resetada e o ciclo continua. É um comportamento determinístico e repetível.</a:t>
            </a:r>
            <a:endParaRPr/>
          </a:p>
        </p:txBody>
      </p:sp>
      <p:sp>
        <p:nvSpPr>
          <p:cNvPr id="168" name="Google Shape;16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Validamos em dois cenários. No cenário 1, sem pedestre, o sistema executou o ciclo e reiniciou sozinho, e confirmamos o intertravamento: em nenhum instante o verde e o vermelho estiveram ligados juntos. No cenário 2, apertando a botoeira durante o verde, a memória ligou na hora e segurou o pedido até o vermelho, quando a sinalização do pedestre apareceu pela janela do T05 e a memória foi resetada ao final. Foram dez ciclos em cada cenário, vinte no total, com comportamento determinístico e zero conflitos. O cronograma à esquerda mostra exatamente essa sequência.</a:t>
            </a:r>
            <a:endParaRPr/>
          </a:p>
        </p:txBody>
      </p:sp>
      <p:sp>
        <p:nvSpPr>
          <p:cNvPr id="185" name="Google Shape;18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Somos honestos quanto às limitações. O modelo cobre um sentido do cruzamento; a temporização é fixa, sem adaptação ao volume de tráfego; não tratamos falhas físicas como queima de lâmpada; e a partida e parada hoje são interface de comando, já que na simulação o ciclo é automático. A partir disso, as evoluções naturais são: um segundo semáforo com intertravamento mútuo, implementar partida e parada com selo e parada segura, usar contadores para estatística de travessias, um modo noturno com amarelo piscante e, num estágio mais avançado, integrar um SCADA via Modbus TCP. Tudo alinhado a Indústria 4.0 e cidades inteligentes.</a:t>
            </a:r>
            <a:endParaRPr/>
          </a:p>
        </p:txBody>
      </p:sp>
      <p:sp>
        <p:nvSpPr>
          <p:cNvPr id="207" name="Google Shape;20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concluir: os objetivos foram atingidos. A lógica sequencial ficou correta, os requisitos funcionais e não funcionais foram atendidos e a simulação validou os dois cenários. As duas decisões de projeto centrais — o intertravamento por janelas de tempo e a memória selada do pedestre — se mostraram robustas e fáceis de manter. E, como curso de Engenharia de Software, esse trabalho deu uma visão concreta de como o software interage com o mundo físico, que é a base dos sistemas embarcados e ciberfísicos. Obrigado, e ficamos abertos a perguntas.</a:t>
            </a:r>
            <a:endParaRPr/>
          </a:p>
        </p:txBody>
      </p:sp>
      <p:sp>
        <p:nvSpPr>
          <p:cNvPr id="228" name="Google Shape;2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22960" y="2331720"/>
            <a:ext cx="640080" cy="2011680"/>
          </a:xfrm>
          <a:prstGeom prst="roundRect">
            <a:avLst>
              <a:gd fmla="val 17143" name="adj"/>
            </a:avLst>
          </a:prstGeom>
          <a:solidFill>
            <a:srgbClr val="1F26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69264" y="2487168"/>
            <a:ext cx="347472" cy="347472"/>
          </a:xfrm>
          <a:prstGeom prst="ellipse">
            <a:avLst/>
          </a:prstGeom>
          <a:solidFill>
            <a:srgbClr val="D7263D"/>
          </a:solidFill>
          <a:ln>
            <a:noFill/>
          </a:ln>
          <a:effectLst>
            <a:outerShdw blurRad="177800" rotWithShape="0" algn="bl" dir="16200000" dist="50800">
              <a:srgbClr val="D7263D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69264" y="3246120"/>
            <a:ext cx="347472" cy="347472"/>
          </a:xfrm>
          <a:prstGeom prst="ellipse">
            <a:avLst/>
          </a:prstGeom>
          <a:solidFill>
            <a:srgbClr val="EFA72E"/>
          </a:solidFill>
          <a:ln>
            <a:noFill/>
          </a:ln>
          <a:effectLst>
            <a:outerShdw blurRad="177800" rotWithShape="0" algn="bl" dir="16200000" dist="50800">
              <a:srgbClr val="EFA72E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969264" y="4005072"/>
            <a:ext cx="347472" cy="347472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177800" rotWithShape="0" algn="bl" dir="16200000" dist="50800">
              <a:srgbClr val="2E9E5B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1828800" y="214884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A7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FA72E"/>
                </a:solidFill>
                <a:latin typeface="Calibri"/>
                <a:ea typeface="Calibri"/>
                <a:cs typeface="Calibri"/>
                <a:sym typeface="Calibri"/>
              </a:rPr>
              <a:t>SISTEMAS AUTOMATIZADOS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783080" y="2606040"/>
            <a:ext cx="9692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Semáforo inteligente com botoeira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 travessia de pedestres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1828800" y="4069080"/>
            <a:ext cx="9509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CEDA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C7CEDA"/>
                </a:solidFill>
                <a:latin typeface="Calibri"/>
                <a:ea typeface="Calibri"/>
                <a:cs typeface="Calibri"/>
                <a:sym typeface="Calibri"/>
              </a:rPr>
              <a:t>Desenvolvimento de sistema automatizado utilizando CLP · Linguagem Ladder · MacroPLC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1828800" y="4800600"/>
            <a:ext cx="8503920" cy="0"/>
          </a:xfrm>
          <a:prstGeom prst="straightConnector1">
            <a:avLst/>
          </a:prstGeom>
          <a:noFill/>
          <a:ln cap="flat" cmpd="sng" w="12700">
            <a:solidFill>
              <a:srgbClr val="3A435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1828800" y="493776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6C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6C4"/>
                </a:solidFill>
                <a:latin typeface="Calibri"/>
                <a:ea typeface="Calibri"/>
                <a:cs typeface="Calibri"/>
                <a:sym typeface="Calibri"/>
              </a:rPr>
              <a:t>Engenharia de Software · Universidade São Judas Tadeu ·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EB6C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EB6C4"/>
                </a:solidFill>
                <a:latin typeface="Calibri"/>
                <a:ea typeface="Calibri"/>
                <a:cs typeface="Calibri"/>
                <a:sym typeface="Calibri"/>
              </a:rPr>
              <a:t>Prof. Robson Calvetti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828800" y="5943600"/>
            <a:ext cx="9692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E889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E889A"/>
                </a:solidFill>
                <a:latin typeface="Calibri"/>
                <a:ea typeface="Calibri"/>
                <a:cs typeface="Calibri"/>
                <a:sym typeface="Calibri"/>
              </a:rPr>
              <a:t>Cauã Lemes · Lucas Araujo · Felipe Oliveira · Fernanda Ribeiro · Guilherme Chagas · Nathan Ferreira · Pedro Félix · Pedro Alves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/>
          <p:nvPr/>
        </p:nvSpPr>
        <p:spPr>
          <a:xfrm>
            <a:off x="11128248" y="274320"/>
            <a:ext cx="420624" cy="841248"/>
          </a:xfrm>
          <a:prstGeom prst="roundRect">
            <a:avLst>
              <a:gd fmla="val 21739" name="adj"/>
            </a:avLst>
          </a:prstGeom>
          <a:solidFill>
            <a:srgbClr val="E9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11247120" y="384048"/>
            <a:ext cx="182880" cy="182880"/>
          </a:xfrm>
          <a:prstGeom prst="ellipse">
            <a:avLst/>
          </a:prstGeom>
          <a:solidFill>
            <a:srgbClr val="D72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11247120" y="676656"/>
            <a:ext cx="182880" cy="182880"/>
          </a:xfrm>
          <a:prstGeom prst="ellipse">
            <a:avLst/>
          </a:prstGeom>
          <a:solidFill>
            <a:srgbClr val="EFA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1247120" y="969264"/>
            <a:ext cx="182880" cy="18288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O problema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66928" y="102412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Cruzamentos urbanos: fluidez do tráfego × segurança do pedestre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548640" y="1600200"/>
            <a:ext cx="822960" cy="822960"/>
          </a:xfrm>
          <a:prstGeom prst="ellipse">
            <a:avLst/>
          </a:prstGeom>
          <a:solidFill>
            <a:srgbClr val="D7263D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610" y="181417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1600200" y="1783080"/>
            <a:ext cx="987552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828800" y="2194560"/>
            <a:ext cx="411480" cy="411480"/>
          </a:xfrm>
          <a:prstGeom prst="ellipse">
            <a:avLst/>
          </a:prstGeom>
          <a:solidFill>
            <a:srgbClr val="D72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828800" y="21945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2423160" y="1929384"/>
            <a:ext cx="8869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Conflito de demandas  </a:t>
            </a:r>
            <a:r>
              <a:rPr b="0" i="0" lang="en-US" sz="13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Ciclos fixos privilegiam o fluxo de veículos e penalizam o pedestre com longas esperas.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600200" y="3200400"/>
            <a:ext cx="987552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1828800" y="3611880"/>
            <a:ext cx="411480" cy="411480"/>
          </a:xfrm>
          <a:prstGeom prst="ellipse">
            <a:avLst/>
          </a:prstGeom>
          <a:solidFill>
            <a:srgbClr val="D72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828800" y="36118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2423160" y="3346704"/>
            <a:ext cx="8869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Travessia insegura  </a:t>
            </a:r>
            <a:r>
              <a:rPr b="0" i="0" lang="en-US" sz="13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Sem mecanismo de solicitação, o pedestre depende de uma temporização nem sempre adequada.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600200" y="4617720"/>
            <a:ext cx="9875520" cy="1234440"/>
          </a:xfrm>
          <a:prstGeom prst="roundRect">
            <a:avLst>
              <a:gd fmla="val 5926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1828800" y="5029200"/>
            <a:ext cx="411480" cy="411480"/>
          </a:xfrm>
          <a:prstGeom prst="ellipse">
            <a:avLst/>
          </a:prstGeom>
          <a:solidFill>
            <a:srgbClr val="D72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828800" y="50292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2423160" y="4764024"/>
            <a:ext cx="8869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Criticidade  </a:t>
            </a:r>
            <a:r>
              <a:rPr b="0" i="0" lang="en-US" sz="13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falha de um semáforo pode causar acidentes — exige uma plataforma confiável e determinística.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11128248" y="274320"/>
            <a:ext cx="420624" cy="841248"/>
          </a:xfrm>
          <a:prstGeom prst="roundRect">
            <a:avLst>
              <a:gd fmla="val 21739" name="adj"/>
            </a:avLst>
          </a:prstGeom>
          <a:solidFill>
            <a:srgbClr val="E9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11247120" y="384048"/>
            <a:ext cx="182880" cy="182880"/>
          </a:xfrm>
          <a:prstGeom prst="ellipse">
            <a:avLst/>
          </a:prstGeom>
          <a:solidFill>
            <a:srgbClr val="D72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11247120" y="676656"/>
            <a:ext cx="182880" cy="182880"/>
          </a:xfrm>
          <a:prstGeom prst="ellipse">
            <a:avLst/>
          </a:prstGeom>
          <a:solidFill>
            <a:srgbClr val="EFA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11247120" y="969264"/>
            <a:ext cx="182880" cy="18288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Objetivos e escopo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66928" y="102412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 que o sistema entrega — e suas fronteiras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48640" y="1600200"/>
            <a:ext cx="5486400" cy="4572000"/>
          </a:xfrm>
          <a:prstGeom prst="roundRect">
            <a:avLst>
              <a:gd fmla="val 160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101" y="20409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1645920" y="19202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Objetivos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914400" y="2606040"/>
            <a:ext cx="484632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Projetar, implementar e simular o controle semafórico em CLP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Mapear botoeiras e atuadores do processo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Desenvolver a lógica em Ladder (contatos, bobinas, temporizadores e memória)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Validar o ciclo completo e a interação com o pedestre na simulação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Documentar tecnicamente segundo a ABNT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309360" y="1600200"/>
            <a:ext cx="5212080" cy="4572000"/>
          </a:xfrm>
          <a:prstGeom prst="roundRect">
            <a:avLst>
              <a:gd fmla="val 1600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629400" y="1874520"/>
            <a:ext cx="640080" cy="640080"/>
          </a:xfrm>
          <a:prstGeom prst="ellipse">
            <a:avLst/>
          </a:prstGeom>
          <a:solidFill>
            <a:srgbClr val="2F6DB5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5821" y="204094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/>
          <p:nvPr/>
        </p:nvSpPr>
        <p:spPr>
          <a:xfrm>
            <a:off x="7406640" y="19202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900"/>
              <a:buFont typeface="Cambria"/>
              <a:buNone/>
            </a:pPr>
            <a:r>
              <a:rPr b="1" i="0" lang="en-US" sz="19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Escopo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675120" y="25603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9E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9E5B"/>
                </a:solidFill>
                <a:latin typeface="Calibri"/>
                <a:ea typeface="Calibri"/>
                <a:cs typeface="Calibri"/>
                <a:sym typeface="Calibri"/>
              </a:rPr>
              <a:t>Incluído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720840" y="2880360"/>
            <a:ext cx="4572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Um semáforo veicular de 3 fases (verde/amarelo/vermelho)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Botoeira de pedestre + sinalização dedicada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Modelagem, lógica e simulação no MacroPLC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675120" y="46177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7263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7263D"/>
                </a:solidFill>
                <a:latin typeface="Calibri"/>
                <a:ea typeface="Calibri"/>
                <a:cs typeface="Calibri"/>
                <a:sym typeface="Calibri"/>
              </a:rPr>
              <a:t>Fora do escopo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6720840" y="4937760"/>
            <a:ext cx="4572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Hardware físico e rede entre cruzamentos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Sensores de fluxo (câmeras/laços) e IHM/SCADA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11128248" y="274320"/>
            <a:ext cx="420624" cy="841248"/>
          </a:xfrm>
          <a:prstGeom prst="roundRect">
            <a:avLst>
              <a:gd fmla="val 21739" name="adj"/>
            </a:avLst>
          </a:prstGeom>
          <a:solidFill>
            <a:srgbClr val="E9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11247120" y="384048"/>
            <a:ext cx="182880" cy="182880"/>
          </a:xfrm>
          <a:prstGeom prst="ellipse">
            <a:avLst/>
          </a:prstGeom>
          <a:solidFill>
            <a:srgbClr val="D72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11247120" y="676656"/>
            <a:ext cx="182880" cy="182880"/>
          </a:xfrm>
          <a:prstGeom prst="ellipse">
            <a:avLst/>
          </a:prstGeom>
          <a:solidFill>
            <a:srgbClr val="EFA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11247120" y="969264"/>
            <a:ext cx="182880" cy="18288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Arquitetura do sistema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66928" y="102412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Modelo entrada → processamento → saída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/fig_blocos.png" id="86" name="Google Shape;8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2148840"/>
            <a:ext cx="7680960" cy="267004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6"/>
          <p:cNvSpPr/>
          <p:nvPr/>
        </p:nvSpPr>
        <p:spPr>
          <a:xfrm>
            <a:off x="548640" y="1554480"/>
            <a:ext cx="777240" cy="777240"/>
          </a:xfrm>
          <a:prstGeom prst="ellipse">
            <a:avLst/>
          </a:prstGeom>
          <a:solidFill>
            <a:srgbClr val="2F6DB5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8" name="Google Shape;8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722" y="1756562"/>
            <a:ext cx="373075" cy="3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/>
          <p:nvPr/>
        </p:nvSpPr>
        <p:spPr>
          <a:xfrm>
            <a:off x="8961120" y="1828800"/>
            <a:ext cx="2697480" cy="4023360"/>
          </a:xfrm>
          <a:prstGeom prst="roundRect">
            <a:avLst>
              <a:gd fmla="val 2712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9144000" y="201168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No CLP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9144000" y="2468880"/>
            <a:ext cx="237744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Ciclo de varredura determinístico (ms)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27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Programa em Ladder (IEC 61131-3)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27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5 temporizadores · 1 memória interna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900"/>
              </a:spcBef>
              <a:spcAft>
                <a:spcPts val="0"/>
              </a:spcAft>
              <a:buClr>
                <a:srgbClr val="222733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4 saídas digitais de sinalização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/>
          <p:cNvSpPr/>
          <p:nvPr/>
        </p:nvSpPr>
        <p:spPr>
          <a:xfrm>
            <a:off x="11128248" y="274320"/>
            <a:ext cx="420624" cy="841248"/>
          </a:xfrm>
          <a:prstGeom prst="roundRect">
            <a:avLst>
              <a:gd fmla="val 21739" name="adj"/>
            </a:avLst>
          </a:prstGeom>
          <a:solidFill>
            <a:srgbClr val="E9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11247120" y="384048"/>
            <a:ext cx="182880" cy="182880"/>
          </a:xfrm>
          <a:prstGeom prst="ellipse">
            <a:avLst/>
          </a:prstGeom>
          <a:solidFill>
            <a:srgbClr val="D72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11247120" y="676656"/>
            <a:ext cx="182880" cy="182880"/>
          </a:xfrm>
          <a:prstGeom prst="ellipse">
            <a:avLst/>
          </a:prstGeom>
          <a:solidFill>
            <a:srgbClr val="EFA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11247120" y="969264"/>
            <a:ext cx="182880" cy="18288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Mapeamento de entradas e saídas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66928" y="102412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Extraído do programa Semaforo_teste_2.cli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3" name="Google Shape;103;p7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{D2DA8936-D207-44F1-83B4-E6CA5F132869}</a:tableStyleId>
              </a:tblPr>
              <a:tblGrid>
                <a:gridCol w="1554475"/>
                <a:gridCol w="2286000"/>
                <a:gridCol w="7223750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Endereço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7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Tipo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73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Descrição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22733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I01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Entrada digital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Botoeira de partida (interface de comando)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I02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Entrada digital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Botoeira de parada (interface de comando)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I03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Entrada digital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Botoeira de solicitação de travessia (pedestre)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Q01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Saída digital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Lâmpada VERDE — veículos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Q02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Saída digital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Lâmpada AMARELA — veículos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Q03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Saída digital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Lâmpada VERMELHA — veículos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Q04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Saída digital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Sinalização de travessia — pedestre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M01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Memória interna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Solicitação de travessia selada (latch)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F2F8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T01–T05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Temporizadores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22733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227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Cadeia das fases, reinício e janela do pedestre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8100" marB="38100" marR="76200" marL="76200" anchor="ctr">
                    <a:lnL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5DCE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"/>
          <p:cNvSpPr/>
          <p:nvPr/>
        </p:nvSpPr>
        <p:spPr>
          <a:xfrm>
            <a:off x="11128248" y="274320"/>
            <a:ext cx="420624" cy="841248"/>
          </a:xfrm>
          <a:prstGeom prst="roundRect">
            <a:avLst>
              <a:gd fmla="val 21739" name="adj"/>
            </a:avLst>
          </a:prstGeom>
          <a:solidFill>
            <a:srgbClr val="E9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8"/>
          <p:cNvSpPr/>
          <p:nvPr/>
        </p:nvSpPr>
        <p:spPr>
          <a:xfrm>
            <a:off x="11247120" y="384048"/>
            <a:ext cx="182880" cy="182880"/>
          </a:xfrm>
          <a:prstGeom prst="ellipse">
            <a:avLst/>
          </a:prstGeom>
          <a:solidFill>
            <a:srgbClr val="D72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8"/>
          <p:cNvSpPr/>
          <p:nvPr/>
        </p:nvSpPr>
        <p:spPr>
          <a:xfrm>
            <a:off x="11247120" y="676656"/>
            <a:ext cx="182880" cy="182880"/>
          </a:xfrm>
          <a:prstGeom prst="ellipse">
            <a:avLst/>
          </a:prstGeom>
          <a:solidFill>
            <a:srgbClr val="EFA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8"/>
          <p:cNvSpPr/>
          <p:nvPr/>
        </p:nvSpPr>
        <p:spPr>
          <a:xfrm>
            <a:off x="11247120" y="969264"/>
            <a:ext cx="182880" cy="18288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8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Estratégia de controle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566928" y="102412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Dois mecanismos que se complementam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548640" y="1645920"/>
            <a:ext cx="548640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"/>
          <p:cNvSpPr/>
          <p:nvPr/>
        </p:nvSpPr>
        <p:spPr>
          <a:xfrm>
            <a:off x="868680" y="1920240"/>
            <a:ext cx="658368" cy="658368"/>
          </a:xfrm>
          <a:prstGeom prst="ellipse">
            <a:avLst/>
          </a:prstGeom>
          <a:solidFill>
            <a:srgbClr val="EFA72E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7" name="Google Shape;1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9856" y="209141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/>
          <p:nvPr/>
        </p:nvSpPr>
        <p:spPr>
          <a:xfrm>
            <a:off x="1691640" y="1993392"/>
            <a:ext cx="4206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Temporizadores em cascata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8"/>
          <p:cNvSpPr/>
          <p:nvPr/>
        </p:nvSpPr>
        <p:spPr>
          <a:xfrm>
            <a:off x="914400" y="283464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A conclusão de um temporizador habilita o próximo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Cada fase tem uma janela temporal exclusiva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Janela = contato NA (abre) em série com NF (fecha)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Garante o intertravamento por projeto — nunca verde e vermelho juntos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6309360" y="1645920"/>
            <a:ext cx="530352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8"/>
          <p:cNvSpPr/>
          <p:nvPr/>
        </p:nvSpPr>
        <p:spPr>
          <a:xfrm>
            <a:off x="6629400" y="1920240"/>
            <a:ext cx="658368" cy="658368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0576" y="2091416"/>
            <a:ext cx="316017" cy="316017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"/>
          <p:cNvSpPr/>
          <p:nvPr/>
        </p:nvSpPr>
        <p:spPr>
          <a:xfrm>
            <a:off x="7452360" y="1993392"/>
            <a:ext cx="4023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Memória selada do pedestre (M01)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6675120" y="2834640"/>
            <a:ext cx="47548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I03 energiza M01 e o selo a mantém ativa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O pedido não se perde mesmo soltando a botoeira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Atendida na fase vermelha, com janela segura (T05)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M01 é resetada ao fim de T05 — desacopla pedido e atendimento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11128248" y="274320"/>
            <a:ext cx="420624" cy="841248"/>
          </a:xfrm>
          <a:prstGeom prst="roundRect">
            <a:avLst>
              <a:gd fmla="val 21739" name="adj"/>
            </a:avLst>
          </a:prstGeom>
          <a:solidFill>
            <a:srgbClr val="E9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11247120" y="384048"/>
            <a:ext cx="182880" cy="182880"/>
          </a:xfrm>
          <a:prstGeom prst="ellipse">
            <a:avLst/>
          </a:prstGeom>
          <a:solidFill>
            <a:srgbClr val="D72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11247120" y="676656"/>
            <a:ext cx="182880" cy="182880"/>
          </a:xfrm>
          <a:prstGeom prst="ellipse">
            <a:avLst/>
          </a:prstGeom>
          <a:solidFill>
            <a:srgbClr val="EFA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9"/>
          <p:cNvSpPr/>
          <p:nvPr/>
        </p:nvSpPr>
        <p:spPr>
          <a:xfrm>
            <a:off x="11247120" y="969264"/>
            <a:ext cx="182880" cy="18288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Lógica em Ladder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566928" y="102412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 redes organizadas por função — Semaforo_teste_2.cli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/fig_ladder.png" id="136" name="Google Shape;13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417320"/>
            <a:ext cx="6126480" cy="512064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9"/>
          <p:cNvSpPr/>
          <p:nvPr/>
        </p:nvSpPr>
        <p:spPr>
          <a:xfrm>
            <a:off x="6858000" y="1600200"/>
            <a:ext cx="475488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7040880" y="1719072"/>
            <a:ext cx="777240" cy="329184"/>
          </a:xfrm>
          <a:prstGeom prst="roundRect">
            <a:avLst>
              <a:gd fmla="val 16667" name="adj"/>
            </a:avLst>
          </a:prstGeom>
          <a:solidFill>
            <a:srgbClr val="EFA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9"/>
          <p:cNvSpPr/>
          <p:nvPr/>
        </p:nvSpPr>
        <p:spPr>
          <a:xfrm>
            <a:off x="7040880" y="1719072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Rede 1–3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7955280" y="1600200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Cadeia de temporização do ciclo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6858000" y="2276856"/>
            <a:ext cx="475488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/>
          <p:nvPr/>
        </p:nvSpPr>
        <p:spPr>
          <a:xfrm>
            <a:off x="7040880" y="2395728"/>
            <a:ext cx="777240" cy="329184"/>
          </a:xfrm>
          <a:prstGeom prst="roundRect">
            <a:avLst>
              <a:gd fmla="val 16667" name="adj"/>
            </a:avLst>
          </a:prstGeom>
          <a:solidFill>
            <a:srgbClr val="2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7040880" y="2395728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Rede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7955280" y="2276856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Q01 Verde — janela inicial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6858000" y="2953512"/>
            <a:ext cx="475488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/>
          <p:nvPr/>
        </p:nvSpPr>
        <p:spPr>
          <a:xfrm>
            <a:off x="7040880" y="3072384"/>
            <a:ext cx="777240" cy="329184"/>
          </a:xfrm>
          <a:prstGeom prst="roundRect">
            <a:avLst>
              <a:gd fmla="val 16667" name="adj"/>
            </a:avLst>
          </a:prstGeom>
          <a:solidFill>
            <a:srgbClr val="EFA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9"/>
          <p:cNvSpPr/>
          <p:nvPr/>
        </p:nvSpPr>
        <p:spPr>
          <a:xfrm>
            <a:off x="7040880" y="3072384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Rede 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/>
          <p:nvPr/>
        </p:nvSpPr>
        <p:spPr>
          <a:xfrm>
            <a:off x="7955280" y="2953512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Q02 Amarelo — janela intermediária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6858000" y="3630168"/>
            <a:ext cx="475488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7040880" y="3749040"/>
            <a:ext cx="777240" cy="329184"/>
          </a:xfrm>
          <a:prstGeom prst="roundRect">
            <a:avLst>
              <a:gd fmla="val 16667" name="adj"/>
            </a:avLst>
          </a:prstGeom>
          <a:solidFill>
            <a:srgbClr val="D72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"/>
          <p:cNvSpPr/>
          <p:nvPr/>
        </p:nvSpPr>
        <p:spPr>
          <a:xfrm>
            <a:off x="7040880" y="3749040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Rede 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7955280" y="3630168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Q03 Vermelho — janela final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9"/>
          <p:cNvSpPr/>
          <p:nvPr/>
        </p:nvSpPr>
        <p:spPr>
          <a:xfrm>
            <a:off x="6858000" y="4306824"/>
            <a:ext cx="475488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7040880" y="4425696"/>
            <a:ext cx="777240" cy="329184"/>
          </a:xfrm>
          <a:prstGeom prst="roundRect">
            <a:avLst>
              <a:gd fmla="val 16667" name="adj"/>
            </a:avLst>
          </a:prstGeom>
          <a:solidFill>
            <a:srgbClr val="2F6DB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"/>
          <p:cNvSpPr/>
          <p:nvPr/>
        </p:nvSpPr>
        <p:spPr>
          <a:xfrm>
            <a:off x="7040880" y="4425696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Rede 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7955280" y="4306824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M01 — memória selada do pedestre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6858000" y="4983480"/>
            <a:ext cx="475488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7040880" y="5102352"/>
            <a:ext cx="777240" cy="329184"/>
          </a:xfrm>
          <a:prstGeom prst="roundRect">
            <a:avLst>
              <a:gd fmla="val 16667" name="adj"/>
            </a:avLst>
          </a:prstGeom>
          <a:solidFill>
            <a:srgbClr val="EFA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7040880" y="5102352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Rede 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7955280" y="4983480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T04 — delimita ciclo e janela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858000" y="5660136"/>
            <a:ext cx="4754880" cy="566928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7040880" y="5779008"/>
            <a:ext cx="777240" cy="329184"/>
          </a:xfrm>
          <a:prstGeom prst="roundRect">
            <a:avLst>
              <a:gd fmla="val 16667" name="adj"/>
            </a:avLst>
          </a:prstGeom>
          <a:solidFill>
            <a:srgbClr val="2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7040880" y="5779008"/>
            <a:ext cx="777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Rede 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7955280" y="5660136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Q04 — sinal de pedestre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/>
          <p:nvPr/>
        </p:nvSpPr>
        <p:spPr>
          <a:xfrm>
            <a:off x="11128248" y="274320"/>
            <a:ext cx="420624" cy="841248"/>
          </a:xfrm>
          <a:prstGeom prst="roundRect">
            <a:avLst>
              <a:gd fmla="val 21739" name="adj"/>
            </a:avLst>
          </a:prstGeom>
          <a:solidFill>
            <a:srgbClr val="E9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/>
          <p:nvPr/>
        </p:nvSpPr>
        <p:spPr>
          <a:xfrm>
            <a:off x="11247120" y="384048"/>
            <a:ext cx="182880" cy="182880"/>
          </a:xfrm>
          <a:prstGeom prst="ellipse">
            <a:avLst/>
          </a:prstGeom>
          <a:solidFill>
            <a:srgbClr val="D72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11247120" y="676656"/>
            <a:ext cx="182880" cy="182880"/>
          </a:xfrm>
          <a:prstGeom prst="ellipse">
            <a:avLst/>
          </a:prstGeom>
          <a:solidFill>
            <a:srgbClr val="EFA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"/>
          <p:cNvSpPr/>
          <p:nvPr/>
        </p:nvSpPr>
        <p:spPr>
          <a:xfrm>
            <a:off x="11247120" y="969264"/>
            <a:ext cx="182880" cy="18288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Sequência operacional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566928" y="102412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Fluxo do ciclo com tratamento do pedestre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/fig_fluxograma.png" id="176" name="Google Shape;17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1371600"/>
            <a:ext cx="3931920" cy="530352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0"/>
          <p:cNvSpPr/>
          <p:nvPr/>
        </p:nvSpPr>
        <p:spPr>
          <a:xfrm>
            <a:off x="640080" y="1920240"/>
            <a:ext cx="731520" cy="73152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8" name="Google Shape;17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0275" y="2110435"/>
            <a:ext cx="351130" cy="35113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/>
          <p:nvPr/>
        </p:nvSpPr>
        <p:spPr>
          <a:xfrm>
            <a:off x="548640" y="28346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Como o pedido é tratado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94360" y="3337560"/>
            <a:ext cx="3200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O ciclo veicular roda e reinicia sozinho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I03 a qualquer momento → sela M01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Na fase vermelha, Q04 + janela T05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100"/>
              </a:spcBef>
              <a:spcAft>
                <a:spcPts val="0"/>
              </a:spcAft>
              <a:buClr>
                <a:srgbClr val="222733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Fim de T05 → reseta M01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8229600" y="3108960"/>
            <a:ext cx="3383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Determinístico e sem reinício manual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"/>
          <p:cNvSpPr/>
          <p:nvPr/>
        </p:nvSpPr>
        <p:spPr>
          <a:xfrm>
            <a:off x="11128248" y="274320"/>
            <a:ext cx="420624" cy="841248"/>
          </a:xfrm>
          <a:prstGeom prst="roundRect">
            <a:avLst>
              <a:gd fmla="val 21739" name="adj"/>
            </a:avLst>
          </a:prstGeom>
          <a:solidFill>
            <a:srgbClr val="E9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"/>
          <p:cNvSpPr/>
          <p:nvPr/>
        </p:nvSpPr>
        <p:spPr>
          <a:xfrm>
            <a:off x="11247120" y="384048"/>
            <a:ext cx="182880" cy="182880"/>
          </a:xfrm>
          <a:prstGeom prst="ellipse">
            <a:avLst/>
          </a:prstGeom>
          <a:solidFill>
            <a:srgbClr val="D72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11247120" y="676656"/>
            <a:ext cx="182880" cy="182880"/>
          </a:xfrm>
          <a:prstGeom prst="ellipse">
            <a:avLst/>
          </a:prstGeom>
          <a:solidFill>
            <a:srgbClr val="EFA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11247120" y="969264"/>
            <a:ext cx="182880" cy="18288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1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Resultados da simulação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566928" y="102412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MacroPLC — operação normal e com pedestre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ig/fig_cronograma.png" id="193" name="Google Shape;19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694944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1"/>
          <p:cNvSpPr/>
          <p:nvPr/>
        </p:nvSpPr>
        <p:spPr>
          <a:xfrm>
            <a:off x="548640" y="5349240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Figura: cronograma de um ciclo com solicitação de pedestre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7863840" y="1600200"/>
            <a:ext cx="3749040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8001000" y="1691640"/>
            <a:ext cx="1371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6DB5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2F6DB5"/>
                </a:solidFill>
                <a:latin typeface="Cambria"/>
                <a:ea typeface="Cambria"/>
                <a:cs typeface="Cambria"/>
                <a:sym typeface="Cambria"/>
              </a:rPr>
              <a:t>20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9281160" y="169164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ciclos ensaiados (10 + 10)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7863840" y="3063240"/>
            <a:ext cx="3749040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8001000" y="3154680"/>
            <a:ext cx="1371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9E5B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2E9E5B"/>
                </a:solidFill>
                <a:latin typeface="Cambria"/>
                <a:ea typeface="Cambria"/>
                <a:cs typeface="Cambria"/>
                <a:sym typeface="Cambria"/>
              </a:rPr>
              <a:t>0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9281160" y="315468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conflitos verde/vermelho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7863840" y="4526280"/>
            <a:ext cx="3749040" cy="1280160"/>
          </a:xfrm>
          <a:prstGeom prst="roundRect">
            <a:avLst>
              <a:gd fmla="val 5714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8001000" y="4617720"/>
            <a:ext cx="1371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A72E"/>
              </a:buClr>
              <a:buSzPts val="4000"/>
              <a:buFont typeface="Cambria"/>
              <a:buNone/>
            </a:pPr>
            <a:r>
              <a:rPr b="1" i="0" lang="en-US" sz="4000" u="none" cap="none" strike="noStrike">
                <a:solidFill>
                  <a:srgbClr val="EFA72E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9281160" y="461772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cenários validados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/>
          <p:nvPr/>
        </p:nvSpPr>
        <p:spPr>
          <a:xfrm>
            <a:off x="11128248" y="274320"/>
            <a:ext cx="420624" cy="841248"/>
          </a:xfrm>
          <a:prstGeom prst="roundRect">
            <a:avLst>
              <a:gd fmla="val 21739" name="adj"/>
            </a:avLst>
          </a:prstGeom>
          <a:solidFill>
            <a:srgbClr val="E9ED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11247120" y="384048"/>
            <a:ext cx="182880" cy="182880"/>
          </a:xfrm>
          <a:prstGeom prst="ellipse">
            <a:avLst/>
          </a:prstGeom>
          <a:solidFill>
            <a:srgbClr val="D72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11247120" y="676656"/>
            <a:ext cx="182880" cy="182880"/>
          </a:xfrm>
          <a:prstGeom prst="ellipse">
            <a:avLst/>
          </a:prstGeom>
          <a:solidFill>
            <a:srgbClr val="EFA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"/>
          <p:cNvSpPr/>
          <p:nvPr/>
        </p:nvSpPr>
        <p:spPr>
          <a:xfrm>
            <a:off x="11247120" y="969264"/>
            <a:ext cx="182880" cy="18288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"/>
          <p:cNvSpPr/>
          <p:nvPr/>
        </p:nvSpPr>
        <p:spPr>
          <a:xfrm>
            <a:off x="548640" y="384048"/>
            <a:ext cx="9601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Limitações e trabalhos futuros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566928" y="1024128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Onde evoluir rumo a um cenário real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548640" y="1645920"/>
            <a:ext cx="548640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2"/>
          <p:cNvSpPr/>
          <p:nvPr/>
        </p:nvSpPr>
        <p:spPr>
          <a:xfrm>
            <a:off x="868680" y="1920240"/>
            <a:ext cx="640080" cy="640080"/>
          </a:xfrm>
          <a:prstGeom prst="ellipse">
            <a:avLst/>
          </a:prstGeom>
          <a:solidFill>
            <a:srgbClr val="D7263D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" name="Google Shape;2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5101" y="208666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/>
          <p:nvPr/>
        </p:nvSpPr>
        <p:spPr>
          <a:xfrm>
            <a:off x="1645920" y="1993392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Limitações atuais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914400" y="278892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Modela apenas um sentido do cruzamento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Temporização fixa, sem adaptação ao tráfego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Sem tratamento de falhas físicas (lâmpada/sensor)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2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Partida/parada (I01/I02) ainda como interface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6309360" y="1645920"/>
            <a:ext cx="5303520" cy="4480560"/>
          </a:xfrm>
          <a:prstGeom prst="roundRect">
            <a:avLst>
              <a:gd fmla="val 1633" name="adj"/>
            </a:avLst>
          </a:prstGeom>
          <a:solidFill>
            <a:srgbClr val="FFFFFF"/>
          </a:solidFill>
          <a:ln>
            <a:noFill/>
          </a:ln>
          <a:effectLst>
            <a:outerShdw blurRad="88900" rotWithShape="0" algn="bl" dir="54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6629400" y="1920240"/>
            <a:ext cx="640080" cy="6400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95821" y="208666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2"/>
          <p:cNvSpPr/>
          <p:nvPr/>
        </p:nvSpPr>
        <p:spPr>
          <a:xfrm>
            <a:off x="7406640" y="1993392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700"/>
              <a:buFont typeface="Cambria"/>
              <a:buNone/>
            </a:pPr>
            <a:r>
              <a:rPr b="1" i="0" lang="en-US" sz="1700" u="none" cap="none" strike="noStrike">
                <a:solidFill>
                  <a:srgbClr val="222733"/>
                </a:solidFill>
                <a:latin typeface="Cambria"/>
                <a:ea typeface="Cambria"/>
                <a:cs typeface="Cambria"/>
                <a:sym typeface="Cambria"/>
              </a:rPr>
              <a:t>Evoluções propostas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6675120" y="278892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Segundo semáforo com intertravamento mútuo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Partida/parada com selo e parada segura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Contadores para estatística de travessias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Modo noturno (amarelo piscante)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222733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222733"/>
                </a:solidFill>
                <a:latin typeface="Calibri"/>
                <a:ea typeface="Calibri"/>
                <a:cs typeface="Calibri"/>
                <a:sym typeface="Calibri"/>
              </a:rPr>
              <a:t>Supervisão SCADA via Modbus TCP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61B26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/>
          <p:nvPr/>
        </p:nvSpPr>
        <p:spPr>
          <a:xfrm>
            <a:off x="822960" y="640080"/>
            <a:ext cx="457200" cy="1371600"/>
          </a:xfrm>
          <a:prstGeom prst="roundRect">
            <a:avLst>
              <a:gd fmla="val 20000" name="adj"/>
            </a:avLst>
          </a:prstGeom>
          <a:solidFill>
            <a:srgbClr val="1F26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932688" y="749808"/>
            <a:ext cx="237744" cy="237744"/>
          </a:xfrm>
          <a:prstGeom prst="ellipse">
            <a:avLst/>
          </a:prstGeom>
          <a:solidFill>
            <a:srgbClr val="D726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3"/>
          <p:cNvSpPr/>
          <p:nvPr/>
        </p:nvSpPr>
        <p:spPr>
          <a:xfrm>
            <a:off x="932688" y="1280160"/>
            <a:ext cx="237744" cy="237744"/>
          </a:xfrm>
          <a:prstGeom prst="ellipse">
            <a:avLst/>
          </a:prstGeom>
          <a:solidFill>
            <a:srgbClr val="EFA7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3"/>
          <p:cNvSpPr/>
          <p:nvPr/>
        </p:nvSpPr>
        <p:spPr>
          <a:xfrm>
            <a:off x="932688" y="1810512"/>
            <a:ext cx="237744" cy="237744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1554480" y="86868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Conclusão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914400" y="2606040"/>
            <a:ext cx="640080" cy="640080"/>
          </a:xfrm>
          <a:prstGeom prst="ellipse">
            <a:avLst/>
          </a:prstGeom>
          <a:solidFill>
            <a:srgbClr val="2E9E5B"/>
          </a:solidFill>
          <a:ln>
            <a:noFill/>
          </a:ln>
          <a:effectLst>
            <a:outerShdw blurRad="63500" rotWithShape="0" algn="bl" dir="5400000" dist="254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" name="Google Shape;23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0821" y="2772461"/>
            <a:ext cx="307238" cy="30723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3"/>
          <p:cNvSpPr/>
          <p:nvPr/>
        </p:nvSpPr>
        <p:spPr>
          <a:xfrm>
            <a:off x="1828800" y="2560320"/>
            <a:ext cx="94183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EBF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7EBF2"/>
                </a:solidFill>
                <a:latin typeface="Calibri"/>
                <a:ea typeface="Calibri"/>
                <a:cs typeface="Calibri"/>
                <a:sym typeface="Calibri"/>
              </a:rPr>
              <a:t>Objetivos atingidos: lógica sequencial correta, requisitos atendidos e simulação validada nos dois cenários.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EBF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7EBF2"/>
                </a:solidFill>
                <a:latin typeface="Calibri"/>
                <a:ea typeface="Calibri"/>
                <a:cs typeface="Calibri"/>
                <a:sym typeface="Calibri"/>
              </a:rPr>
              <a:t>O intertravamento por janelas de tempo e a memória selada do pedestre mostraram-se soluções robustas e de fácil manutenção.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EBF2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7EBF2"/>
                </a:solidFill>
                <a:latin typeface="Calibri"/>
                <a:ea typeface="Calibri"/>
                <a:cs typeface="Calibri"/>
                <a:sym typeface="Calibri"/>
              </a:rPr>
              <a:t>Para Engenharia de Software, o projeto deu uma visão concreta da interação entre software e mundo físico — base dos sistemas embarcados e ciberfísicos.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1828800" y="55778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A72E"/>
              </a:buClr>
              <a:buSzPts val="2400"/>
              <a:buFont typeface="Cambria"/>
              <a:buNone/>
            </a:pPr>
            <a:r>
              <a:rPr b="1" i="0" lang="en-US" sz="2400" u="none" cap="none" strike="noStrike">
                <a:solidFill>
                  <a:srgbClr val="EFA72E"/>
                </a:solidFill>
                <a:latin typeface="Cambria"/>
                <a:ea typeface="Cambria"/>
                <a:cs typeface="Cambria"/>
                <a:sym typeface="Cambria"/>
              </a:rPr>
              <a:t>Obrigado!  ·  Perguntas?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